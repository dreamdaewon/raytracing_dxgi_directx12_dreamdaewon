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6bd82d0dec41c5" /><Relationship Type="http://schemas.openxmlformats.org/officeDocument/2006/relationships/extended-properties" Target="/docProps/app.xml" Id="Rd80030cc6df64f6e" /><Relationship Type="http://schemas.openxmlformats.org/officeDocument/2006/relationships/officeDocument" Target="/ppt/presentation.xml" Id="Rd0580eebc9964cb0" /></Relationships>
</file>

<file path=ppt/presentation.xml><?xml version="1.0" encoding="utf-8"?>
<p:presentation xmlns:p="http://schemas.openxmlformats.org/presentationml/2006/main">
  <p:sldMasterIdLst>
    <p:sldMasterId xmlns:r="http://schemas.openxmlformats.org/officeDocument/2006/relationships" id="2147483648" r:id="Rbb136d01402d4b24"/>
  </p:sldMasterIdLst>
  <p:notesMasterIdLst>
    <p:notesMasterId xmlns:r="http://schemas.openxmlformats.org/officeDocument/2006/relationships" r:id="R7d1c796f653d45c5"/>
  </p:notesMasterIdLst>
  <p:sldIdLst>
    <p:sldId xmlns:r="http://schemas.openxmlformats.org/officeDocument/2006/relationships" id="256" r:id="Rf76504cb025145f0"/>
  </p:sldIdLst>
  <p:sldSz cx="16344900" cy="91535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c0ab42507c47d3" /><Relationship Type="http://schemas.openxmlformats.org/officeDocument/2006/relationships/slideMaster" Target="/ppt/slideMasters/slideMaster1.xml" Id="Rbb136d01402d4b24" /><Relationship Type="http://schemas.openxmlformats.org/officeDocument/2006/relationships/notesMaster" Target="/ppt/notesMasters/notesMaster1.xml" Id="R7d1c796f653d45c5" /><Relationship Type="http://schemas.openxmlformats.org/officeDocument/2006/relationships/presProps" Target="/ppt/presProps.xml" Id="R6a833a4463a44d3d" /><Relationship Type="http://schemas.openxmlformats.org/officeDocument/2006/relationships/tableStyles" Target="/ppt/tableStyles.xml" Id="Ree2ef3bcd6d14387" /><Relationship Type="http://schemas.openxmlformats.org/officeDocument/2006/relationships/slide" Target="/ppt/slides/slide1.xml" Id="Rf76504cb025145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a93ada676c49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2d10670e9f4230" /><Relationship Type="http://schemas.openxmlformats.org/officeDocument/2006/relationships/notesMaster" Target="/ppt/notesMasters/notesMaster1.xml" Id="R0e1f8a1bd0d14f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다이어그램은 DLSS Ray Reconstruction 처리 경로만 간단히 요약한다. DX12 compute shader가 현재 프레임의 노이즈 HDR 영상과 여섯 종류의 보조 가이드 버퍼를 만들고, NVIDIA NGX RR이 이를 이전 이력과 함께 재구성한다. Full GI의 별도 1/N 누적 경로는 슬라이드 본문에서 설명하며 이 간략 도식에서는 생략했다. 소스: 이 프로젝트 Source/PathTracer.cpp, Shaders/PathTracing.hlsl, Source/RayReconstruction.cpp. 배경은 사용자가 제공한 슬라이드 스크린샷이다.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71d50f7a954c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0a4c1693e54eb6" /><Relationship Type="http://schemas.openxmlformats.org/officeDocument/2006/relationships/slideLayout" Target="/ppt/slideLayouts/slideLayout1.xml" Id="Ra9adc03528d646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adc03528d646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4586c444a44018" /><Relationship Type="http://schemas.openxmlformats.org/officeDocument/2006/relationships/image" Target="/ppt/media/image.png" Id="Ra030fcf998214b19" /><Relationship Type="http://schemas.openxmlformats.org/officeDocument/2006/relationships/notesSlide" Target="/ppt/notesSlides/notesSlide1.xml" Id="R25144b9f20394d7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30fcf998214b19"/>
          <a:stretch xmlns:a="http://schemas.openxmlformats.org/drawingml/2006/main"/>
        </p:blipFill>
        <p:spPr>
          <a:xfrm xmlns:a="http://schemas.openxmlformats.org/drawingml/2006/main">
            <a:off x="0" y="0"/>
            <a:ext cx="16344900" cy="91535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2362F6-92CD-453B-89B6-A28C3E14590E}"/>
              </a:ext>
            </a:extLst>
          </p:cNvPr>
          <p:cNvSpPr>
            <a:spLocks xmlns:a="http://schemas.openxmlformats.org/drawingml/2006/main" noGrp="1"/>
          </p:cNvSpPr>
          <p:nvPr/>
        </p:nvSpPr>
        <p:spPr>
          <a:xfrm xmlns:a="http://schemas.openxmlformats.org/drawingml/2006/main">
            <a:off x="400050" y="8086725"/>
            <a:ext cx="15544800" cy="0"/>
          </a:xfrm>
          <a:prstGeom xmlns:a="http://schemas.openxmlformats.org/drawingml/2006/main" prst="line">
            <a:avLst/>
          </a:prstGeom>
          <a:noFill xmlns:a="http://schemas.openxmlformats.org/drawingml/2006/main"/>
          <a:ln xmlns:a="http://schemas.openxmlformats.org/drawingml/2006/main" w="11430">
            <a:solidFill>
              <a:srgbClr val="D6DDE1"/>
            </a:solidFill>
            <a:prstDash val="solid"/>
          </a:ln>
        </p:spPr>
      </p:sp>
      <p:sp>
        <p:nvSpPr>
          <p:cNvPr id="3" name="input">
            <a:extLst xmlns:a="http://schemas.openxmlformats.org/drawingml/2006/main">
              <a:ext uri="{FF2B5EF4-FFF2-40B4-BE49-F238E27FC236}">
                <a16:creationId xmlns:a16="http://schemas.microsoft.com/office/drawing/2014/main" id="{4E5F615F-EB95-4CE9-B42A-3EBD8B2DF9F2}"/>
              </a:ext>
            </a:extLst>
          </p:cNvPr>
          <p:cNvSpPr>
            <a:spLocks xmlns:a="http://schemas.openxmlformats.org/drawingml/2006/main" noGrp="1"/>
          </p:cNvSpPr>
          <p:nvPr/>
        </p:nvSpPr>
        <p:spPr>
          <a:xfrm xmlns:a="http://schemas.openxmlformats.org/drawingml/2006/main">
            <a:off x="400050" y="8239125"/>
            <a:ext cx="3048000" cy="714375"/>
          </a:xfrm>
          <a:prstGeom xmlns:a="http://schemas.openxmlformats.org/drawingml/2006/main" prst="roundRect">
            <a:avLst>
              <a:gd name="adj" fmla="val 9333"/>
            </a:avLst>
          </a:prstGeom>
          <a:solidFill xmlns:a="http://schemas.openxmlformats.org/drawingml/2006/main">
            <a:srgbClr val="F5F7F8"/>
          </a:solidFill>
          <a:ln xmlns:a="http://schemas.openxmlformats.org/drawingml/2006/main" w="14288">
            <a:solidFill>
              <a:srgbClr val="AAB6BC"/>
            </a:solidFill>
            <a:prstDash val="solid"/>
          </a:ln>
        </p:spPr>
        <p:txBody>
          <a:bodyPr xmlns:a="http://schemas.openxmlformats.org/drawingml/2006/main" wrap="none" lIns="76200" tIns="28575" rIns="76200" bIns="28575" anchor="ctr">
            <a:normAutofit fontScale="100000"/>
          </a:bodyPr>
          <a:lstStyle xmlns:a="http://schemas.openxmlformats.org/drawingml/2006/main"/>
          <a:p xmlns:a="http://schemas.openxmlformats.org/drawingml/2006/main">
            <a:pPr algn="ctr">
              <a:defRPr sz="1425" b="1">
                <a:solidFill>
                  <a:srgbClr val="1C292F"/>
                </a:solidFill>
                <a:latin typeface="Malgun Gothic"/>
                <a:ea typeface="Malgun Gothic"/>
                <a:cs typeface="Malgun Gothic"/>
              </a:defRPr>
            </a:pPr>
            <a:r>
              <a:rPr sz="1425" b="1">
                <a:solidFill>
                  <a:srgbClr val="1C292F"/>
                </a:solidFill>
                <a:latin typeface="Malgun Gothic"/>
                <a:ea typeface="Malgun Gothic"/>
                <a:cs typeface="Malgun Gothic"/>
              </a:rPr>
              <a:t>장면 · 카메라</a:t>
            </a:r>
          </a:p>
          <a:p xmlns:a="http://schemas.openxmlformats.org/drawingml/2006/main">
            <a:pPr algn="ctr">
              <a:defRPr sz="1425" b="1">
                <a:solidFill>
                  <a:srgbClr val="1C292F"/>
                </a:solidFill>
                <a:latin typeface="Malgun Gothic"/>
                <a:ea typeface="Malgun Gothic"/>
                <a:cs typeface="Malgun Gothic"/>
              </a:defRPr>
            </a:pPr>
            <a:r>
              <a:rPr sz="1425" b="1">
                <a:solidFill>
                  <a:srgbClr val="1C292F"/>
                </a:solidFill>
                <a:latin typeface="Malgun Gothic"/>
                <a:ea typeface="Malgun Gothic"/>
                <a:cs typeface="Malgun Gothic"/>
              </a:rPr>
              <a:t>PBR 재질</a:t>
            </a:r>
          </a:p>
        </p:txBody>
      </p:sp>
      <p:sp>
        <p:nvSpPr>
          <p:cNvPr id="4" name="">
            <a:extLst xmlns:a="http://schemas.openxmlformats.org/drawingml/2006/main">
              <a:ext uri="{FF2B5EF4-FFF2-40B4-BE49-F238E27FC236}">
                <a16:creationId xmlns:a16="http://schemas.microsoft.com/office/drawing/2014/main" id="{0DFFC0B8-67BA-42B3-8D02-F81F1A4A2617}"/>
              </a:ext>
            </a:extLst>
          </p:cNvPr>
          <p:cNvSpPr>
            <a:spLocks xmlns:a="http://schemas.openxmlformats.org/drawingml/2006/main" noGrp="1"/>
          </p:cNvSpPr>
          <p:nvPr/>
        </p:nvSpPr>
        <p:spPr>
          <a:xfrm xmlns:a="http://schemas.openxmlformats.org/drawingml/2006/main">
            <a:off x="3571875" y="8534400"/>
            <a:ext cx="247650" cy="123825"/>
          </a:xfrm>
          <a:prstGeom xmlns:a="http://schemas.openxmlformats.org/drawingml/2006/main" prst="rightArrow">
            <a:avLst/>
          </a:prstGeom>
          <a:solidFill xmlns:a="http://schemas.openxmlformats.org/drawingml/2006/main">
            <a:srgbClr val="687981"/>
          </a:solidFill>
          <a:ln xmlns:a="http://schemas.openxmlformats.org/drawingml/2006/main" w="0">
            <a:noFill/>
          </a:ln>
        </p:spPr>
      </p:sp>
      <p:sp>
        <p:nvSpPr>
          <p:cNvPr id="5" name="path tracing">
            <a:extLst xmlns:a="http://schemas.openxmlformats.org/drawingml/2006/main">
              <a:ext uri="{FF2B5EF4-FFF2-40B4-BE49-F238E27FC236}">
                <a16:creationId xmlns:a16="http://schemas.microsoft.com/office/drawing/2014/main" id="{23B2D564-7FA4-4570-ABBB-4A37C3E188A4}"/>
              </a:ext>
            </a:extLst>
          </p:cNvPr>
          <p:cNvSpPr>
            <a:spLocks xmlns:a="http://schemas.openxmlformats.org/drawingml/2006/main" noGrp="1"/>
          </p:cNvSpPr>
          <p:nvPr/>
        </p:nvSpPr>
        <p:spPr>
          <a:xfrm xmlns:a="http://schemas.openxmlformats.org/drawingml/2006/main">
            <a:off x="3924300" y="8239125"/>
            <a:ext cx="4048125" cy="714375"/>
          </a:xfrm>
          <a:prstGeom xmlns:a="http://schemas.openxmlformats.org/drawingml/2006/main" prst="roundRect">
            <a:avLst>
              <a:gd name="adj" fmla="val 9333"/>
            </a:avLst>
          </a:prstGeom>
          <a:solidFill xmlns:a="http://schemas.openxmlformats.org/drawingml/2006/main">
            <a:srgbClr val="202A30"/>
          </a:solidFill>
          <a:ln xmlns:a="http://schemas.openxmlformats.org/drawingml/2006/main" w="14288">
            <a:solidFill>
              <a:srgbClr val="202A30"/>
            </a:solidFill>
            <a:prstDash val="solid"/>
          </a:ln>
        </p:spPr>
        <p:txBody>
          <a:bodyPr xmlns:a="http://schemas.openxmlformats.org/drawingml/2006/main" wrap="none" lIns="76200" tIns="28575" rIns="76200" bIns="28575" anchor="ctr">
            <a:normAutofit fontScale="100000"/>
          </a:bodyPr>
          <a:lstStyle xmlns:a="http://schemas.openxmlformats.org/drawingml/2006/main"/>
          <a:p xmlns:a="http://schemas.openxmlformats.org/drawingml/2006/main">
            <a:pPr algn="ctr">
              <a:defRPr sz="1425" b="1">
                <a:solidFill>
                  <a:srgbClr val="FFFFFF"/>
                </a:solidFill>
                <a:latin typeface="Malgun Gothic"/>
                <a:ea typeface="Malgun Gothic"/>
                <a:cs typeface="Malgun Gothic"/>
              </a:defRPr>
            </a:pPr>
            <a:r>
              <a:rPr sz="1425" b="1">
                <a:solidFill>
                  <a:srgbClr val="FFFFFF"/>
                </a:solidFill>
                <a:latin typeface="Malgun Gothic"/>
                <a:ea typeface="Malgun Gothic"/>
                <a:cs typeface="Malgun Gothic"/>
              </a:rPr>
              <a:t>DX12 컴퓨트 셰이더</a:t>
            </a:r>
          </a:p>
          <a:p xmlns:a="http://schemas.openxmlformats.org/drawingml/2006/main">
            <a:pPr algn="ctr">
              <a:defRPr sz="1425" b="1">
                <a:solidFill>
                  <a:srgbClr val="FFFFFF"/>
                </a:solidFill>
                <a:latin typeface="Malgun Gothic"/>
                <a:ea typeface="Malgun Gothic"/>
                <a:cs typeface="Malgun Gothic"/>
              </a:defRPr>
            </a:pPr>
            <a:r>
              <a:rPr sz="1425" b="1">
                <a:solidFill>
                  <a:srgbClr val="FFFFFF"/>
                </a:solidFill>
                <a:latin typeface="Malgun Gothic"/>
                <a:ea typeface="Malgun Gothic"/>
                <a:cs typeface="Malgun Gothic"/>
              </a:rPr>
              <a:t>노이즈 영상 · 가이드 버퍼 추출</a:t>
            </a:r>
          </a:p>
        </p:txBody>
      </p:sp>
      <p:sp>
        <p:nvSpPr>
          <p:cNvPr id="6" name="">
            <a:extLst xmlns:a="http://schemas.openxmlformats.org/drawingml/2006/main">
              <a:ext uri="{FF2B5EF4-FFF2-40B4-BE49-F238E27FC236}">
                <a16:creationId xmlns:a16="http://schemas.microsoft.com/office/drawing/2014/main" id="{3A39FACB-F890-4FEB-BDB2-F9C9F6EAACAC}"/>
              </a:ext>
            </a:extLst>
          </p:cNvPr>
          <p:cNvSpPr>
            <a:spLocks xmlns:a="http://schemas.openxmlformats.org/drawingml/2006/main" noGrp="1"/>
          </p:cNvSpPr>
          <p:nvPr/>
        </p:nvSpPr>
        <p:spPr>
          <a:xfrm xmlns:a="http://schemas.openxmlformats.org/drawingml/2006/main">
            <a:off x="8096250" y="8534400"/>
            <a:ext cx="295275" cy="123825"/>
          </a:xfrm>
          <a:prstGeom xmlns:a="http://schemas.openxmlformats.org/drawingml/2006/main" prst="rightArrow">
            <a:avLst/>
          </a:prstGeom>
          <a:solidFill xmlns:a="http://schemas.openxmlformats.org/drawingml/2006/main">
            <a:srgbClr val="687981"/>
          </a:solidFill>
          <a:ln xmlns:a="http://schemas.openxmlformats.org/drawingml/2006/main" w="0">
            <a:noFill/>
          </a:ln>
        </p:spPr>
      </p:sp>
      <p:sp>
        <p:nvSpPr>
          <p:cNvPr id="7" name="dlss rr">
            <a:extLst xmlns:a="http://schemas.openxmlformats.org/drawingml/2006/main">
              <a:ext uri="{FF2B5EF4-FFF2-40B4-BE49-F238E27FC236}">
                <a16:creationId xmlns:a16="http://schemas.microsoft.com/office/drawing/2014/main" id="{174A3533-337B-49EE-8285-8C87188EB1E2}"/>
              </a:ext>
            </a:extLst>
          </p:cNvPr>
          <p:cNvSpPr>
            <a:spLocks xmlns:a="http://schemas.openxmlformats.org/drawingml/2006/main" noGrp="1"/>
          </p:cNvSpPr>
          <p:nvPr/>
        </p:nvSpPr>
        <p:spPr>
          <a:xfrm xmlns:a="http://schemas.openxmlformats.org/drawingml/2006/main">
            <a:off x="8515350" y="8239125"/>
            <a:ext cx="3267075" cy="714375"/>
          </a:xfrm>
          <a:prstGeom xmlns:a="http://schemas.openxmlformats.org/drawingml/2006/main" prst="roundRect">
            <a:avLst>
              <a:gd name="adj" fmla="val 9333"/>
            </a:avLst>
          </a:prstGeom>
          <a:solidFill xmlns:a="http://schemas.openxmlformats.org/drawingml/2006/main">
            <a:srgbClr val="EAF6F4"/>
          </a:solidFill>
          <a:ln xmlns:a="http://schemas.openxmlformats.org/drawingml/2006/main" w="14288">
            <a:solidFill>
              <a:srgbClr val="2A9A8B"/>
            </a:solidFill>
            <a:prstDash val="solid"/>
          </a:ln>
        </p:spPr>
        <p:txBody>
          <a:bodyPr xmlns:a="http://schemas.openxmlformats.org/drawingml/2006/main" wrap="none" lIns="76200" tIns="28575" rIns="76200" bIns="28575" anchor="ctr">
            <a:normAutofit fontScale="100000"/>
          </a:bodyPr>
          <a:lstStyle xmlns:a="http://schemas.openxmlformats.org/drawingml/2006/main"/>
          <a:p xmlns:a="http://schemas.openxmlformats.org/drawingml/2006/main">
            <a:pPr algn="ctr">
              <a:defRPr sz="1425" b="1">
                <a:solidFill>
                  <a:srgbClr val="126F67"/>
                </a:solidFill>
                <a:latin typeface="Malgun Gothic"/>
                <a:ea typeface="Malgun Gothic"/>
                <a:cs typeface="Malgun Gothic"/>
              </a:defRPr>
            </a:pPr>
            <a:r>
              <a:rPr sz="1425" b="1">
                <a:solidFill>
                  <a:srgbClr val="126F67"/>
                </a:solidFill>
                <a:latin typeface="Malgun Gothic"/>
                <a:ea typeface="Malgun Gothic"/>
                <a:cs typeface="Malgun Gothic"/>
              </a:rPr>
              <a:t>DLSS RR</a:t>
            </a:r>
          </a:p>
          <a:p xmlns:a="http://schemas.openxmlformats.org/drawingml/2006/main">
            <a:pPr algn="ctr">
              <a:defRPr sz="1425" b="1">
                <a:solidFill>
                  <a:srgbClr val="126F67"/>
                </a:solidFill>
                <a:latin typeface="Malgun Gothic"/>
                <a:ea typeface="Malgun Gothic"/>
                <a:cs typeface="Malgun Gothic"/>
              </a:defRPr>
            </a:pPr>
            <a:r>
              <a:rPr sz="1425" b="1">
                <a:solidFill>
                  <a:srgbClr val="126F67"/>
                </a:solidFill>
                <a:latin typeface="Malgun Gothic"/>
                <a:ea typeface="Malgun Gothic"/>
                <a:cs typeface="Malgun Gothic"/>
              </a:rPr>
              <a:t>NVIDIA NGX 재구성</a:t>
            </a:r>
          </a:p>
        </p:txBody>
      </p:sp>
      <p:sp>
        <p:nvSpPr>
          <p:cNvPr id="8" name="">
            <a:extLst xmlns:a="http://schemas.openxmlformats.org/drawingml/2006/main">
              <a:ext uri="{FF2B5EF4-FFF2-40B4-BE49-F238E27FC236}">
                <a16:creationId xmlns:a16="http://schemas.microsoft.com/office/drawing/2014/main" id="{F16F91E1-F7CA-414E-B826-EDA660F12C4A}"/>
              </a:ext>
            </a:extLst>
          </p:cNvPr>
          <p:cNvSpPr>
            <a:spLocks xmlns:a="http://schemas.openxmlformats.org/drawingml/2006/main" noGrp="1"/>
          </p:cNvSpPr>
          <p:nvPr/>
        </p:nvSpPr>
        <p:spPr>
          <a:xfrm xmlns:a="http://schemas.openxmlformats.org/drawingml/2006/main">
            <a:off x="11906250" y="8534400"/>
            <a:ext cx="295275" cy="123825"/>
          </a:xfrm>
          <a:prstGeom xmlns:a="http://schemas.openxmlformats.org/drawingml/2006/main" prst="rightArrow">
            <a:avLst/>
          </a:prstGeom>
          <a:solidFill xmlns:a="http://schemas.openxmlformats.org/drawingml/2006/main">
            <a:srgbClr val="687981"/>
          </a:solidFill>
          <a:ln xmlns:a="http://schemas.openxmlformats.org/drawingml/2006/main" w="0">
            <a:noFill/>
          </a:ln>
        </p:spPr>
      </p:sp>
      <p:sp>
        <p:nvSpPr>
          <p:cNvPr id="9" name="display">
            <a:extLst xmlns:a="http://schemas.openxmlformats.org/drawingml/2006/main">
              <a:ext uri="{FF2B5EF4-FFF2-40B4-BE49-F238E27FC236}">
                <a16:creationId xmlns:a16="http://schemas.microsoft.com/office/drawing/2014/main" id="{704579CA-110A-436E-B45A-30B209C95B15}"/>
              </a:ext>
            </a:extLst>
          </p:cNvPr>
          <p:cNvSpPr>
            <a:spLocks xmlns:a="http://schemas.openxmlformats.org/drawingml/2006/main" noGrp="1"/>
          </p:cNvSpPr>
          <p:nvPr/>
        </p:nvSpPr>
        <p:spPr>
          <a:xfrm xmlns:a="http://schemas.openxmlformats.org/drawingml/2006/main">
            <a:off x="12325350" y="8239125"/>
            <a:ext cx="3609975" cy="714375"/>
          </a:xfrm>
          <a:prstGeom xmlns:a="http://schemas.openxmlformats.org/drawingml/2006/main" prst="roundRect">
            <a:avLst>
              <a:gd name="adj" fmla="val 9333"/>
            </a:avLst>
          </a:prstGeom>
          <a:solidFill xmlns:a="http://schemas.openxmlformats.org/drawingml/2006/main">
            <a:srgbClr val="F5F7F8"/>
          </a:solidFill>
          <a:ln xmlns:a="http://schemas.openxmlformats.org/drawingml/2006/main" w="14288">
            <a:solidFill>
              <a:srgbClr val="AAB6BC"/>
            </a:solidFill>
            <a:prstDash val="solid"/>
          </a:ln>
        </p:spPr>
        <p:txBody>
          <a:bodyPr xmlns:a="http://schemas.openxmlformats.org/drawingml/2006/main" wrap="none" lIns="76200" tIns="28575" rIns="76200" bIns="28575" anchor="ctr">
            <a:normAutofit fontScale="100000"/>
          </a:bodyPr>
          <a:lstStyle xmlns:a="http://schemas.openxmlformats.org/drawingml/2006/main"/>
          <a:p xmlns:a="http://schemas.openxmlformats.org/drawingml/2006/main">
            <a:pPr algn="ctr">
              <a:defRPr sz="1500" b="1">
                <a:solidFill>
                  <a:srgbClr val="1C292F"/>
                </a:solidFill>
                <a:latin typeface="Malgun Gothic"/>
                <a:ea typeface="Malgun Gothic"/>
                <a:cs typeface="Malgun Gothic"/>
              </a:defRPr>
            </a:pPr>
            <a:r>
              <a:rPr sz="1500" b="1">
                <a:solidFill>
                  <a:srgbClr val="1C292F"/>
                </a:solidFill>
                <a:latin typeface="Malgun Gothic"/>
                <a:ea typeface="Malgun Gothic"/>
                <a:cs typeface="Malgun Gothic"/>
              </a:rPr>
              <a:t>최종 렌더링 화면</a:t>
            </a:r>
          </a:p>
        </p:txBody>
      </p:sp>
    </p:spTree>
    <p:extLst>
      <p:ext uri="{BB962C8B-B14F-4D97-AF65-F5344CB8AC3E}">
        <p14:creationId xmlns:p14="http://schemas.microsoft.com/office/powerpoint/2010/main" val="20746554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2026-09-27T20:21:59.5310000Z</dcterms:created>
  <dcterms:modified xsi:type="dcterms:W3CDTF">2026-09-27T20:21:59.5310000Z</dcterms:modified>
</coreProperties>
</file>